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vin SM" userId="3e192455da7d406b" providerId="LiveId" clId="{86293242-35D7-46DE-83DE-8CD9CA6A62F3}"/>
    <pc:docChg chg="custSel modSld">
      <pc:chgData name="Kavin SM" userId="3e192455da7d406b" providerId="LiveId" clId="{86293242-35D7-46DE-83DE-8CD9CA6A62F3}" dt="2026-07-12T06:50:45.701" v="1" actId="1076"/>
      <pc:docMkLst>
        <pc:docMk/>
      </pc:docMkLst>
      <pc:sldChg chg="delSp mod">
        <pc:chgData name="Kavin SM" userId="3e192455da7d406b" providerId="LiveId" clId="{86293242-35D7-46DE-83DE-8CD9CA6A62F3}" dt="2026-07-12T06:42:10.898" v="0" actId="478"/>
        <pc:sldMkLst>
          <pc:docMk/>
          <pc:sldMk cId="1232339060" sldId="256"/>
        </pc:sldMkLst>
        <pc:spChg chg="del">
          <ac:chgData name="Kavin SM" userId="3e192455da7d406b" providerId="LiveId" clId="{86293242-35D7-46DE-83DE-8CD9CA6A62F3}" dt="2026-07-12T06:42:10.898" v="0" actId="478"/>
          <ac:spMkLst>
            <pc:docMk/>
            <pc:sldMk cId="1232339060" sldId="256"/>
            <ac:spMk id="3" creationId="{25651EEB-B661-4839-ABCB-324A6D372815}"/>
          </ac:spMkLst>
        </pc:spChg>
      </pc:sldChg>
      <pc:sldChg chg="modSp mod">
        <pc:chgData name="Kavin SM" userId="3e192455da7d406b" providerId="LiveId" clId="{86293242-35D7-46DE-83DE-8CD9CA6A62F3}" dt="2026-07-12T06:50:45.701" v="1" actId="1076"/>
        <pc:sldMkLst>
          <pc:docMk/>
          <pc:sldMk cId="3781902073" sldId="262"/>
        </pc:sldMkLst>
        <pc:picChg chg="mod">
          <ac:chgData name="Kavin SM" userId="3e192455da7d406b" providerId="LiveId" clId="{86293242-35D7-46DE-83DE-8CD9CA6A62F3}" dt="2026-07-12T06:50:45.701" v="1" actId="1076"/>
          <ac:picMkLst>
            <pc:docMk/>
            <pc:sldMk cId="3781902073" sldId="262"/>
            <ac:picMk id="8" creationId="{8CA6ED04-6344-7112-5659-BE28C7B163F8}"/>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7/12/2026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7/12/2026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7/12/2026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7/12/2026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7/12/2026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7/12/2026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7/12/2026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7/12/2026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7/12/2026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F5FD-DB2A-70EF-F433-006F3CD92DF7}"/>
              </a:ext>
            </a:extLst>
          </p:cNvPr>
          <p:cNvSpPr>
            <a:spLocks noGrp="1"/>
          </p:cNvSpPr>
          <p:nvPr>
            <p:ph type="ctrTitle"/>
          </p:nvPr>
        </p:nvSpPr>
        <p:spPr/>
        <p:txBody>
          <a:bodyPr/>
          <a:lstStyle/>
          <a:p>
            <a:r>
              <a:rPr lang="en-IN" sz="4000" dirty="0"/>
              <a:t>Large array readout using address event representation </a:t>
            </a:r>
          </a:p>
        </p:txBody>
      </p:sp>
    </p:spTree>
    <p:extLst>
      <p:ext uri="{BB962C8B-B14F-4D97-AF65-F5344CB8AC3E}">
        <p14:creationId xmlns:p14="http://schemas.microsoft.com/office/powerpoint/2010/main" val="12323390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04C72-D258-0C4F-850D-CFD4A7EE36BC}"/>
              </a:ext>
            </a:extLst>
          </p:cNvPr>
          <p:cNvSpPr>
            <a:spLocks noGrp="1"/>
          </p:cNvSpPr>
          <p:nvPr>
            <p:ph type="title"/>
          </p:nvPr>
        </p:nvSpPr>
        <p:spPr>
          <a:xfrm>
            <a:off x="1371600" y="2201334"/>
            <a:ext cx="9601200" cy="558800"/>
          </a:xfrm>
        </p:spPr>
        <p:txBody>
          <a:bodyPr>
            <a:normAutofit fontScale="90000"/>
          </a:bodyPr>
          <a:lstStyle/>
          <a:p>
            <a:r>
              <a:rPr lang="en-IN" sz="3100" dirty="0"/>
              <a:t>Neuromorphic Vision</a:t>
            </a:r>
            <a:br>
              <a:rPr lang="en-IN" dirty="0"/>
            </a:br>
            <a:endParaRPr lang="en-IN" dirty="0"/>
          </a:p>
        </p:txBody>
      </p:sp>
      <p:sp>
        <p:nvSpPr>
          <p:cNvPr id="3" name="Content Placeholder 2">
            <a:extLst>
              <a:ext uri="{FF2B5EF4-FFF2-40B4-BE49-F238E27FC236}">
                <a16:creationId xmlns:a16="http://schemas.microsoft.com/office/drawing/2014/main" id="{784D167F-E215-E0BA-CCC4-3B44A59E9C78}"/>
              </a:ext>
            </a:extLst>
          </p:cNvPr>
          <p:cNvSpPr>
            <a:spLocks noGrp="1"/>
          </p:cNvSpPr>
          <p:nvPr>
            <p:ph idx="1"/>
          </p:nvPr>
        </p:nvSpPr>
        <p:spPr>
          <a:xfrm>
            <a:off x="1371600" y="2916706"/>
            <a:ext cx="6083747" cy="1828800"/>
          </a:xfrm>
        </p:spPr>
        <p:txBody>
          <a:bodyPr>
            <a:normAutofit lnSpcReduction="10000"/>
          </a:bodyPr>
          <a:lstStyle/>
          <a:p>
            <a:pPr marL="0" indent="0">
              <a:buNone/>
              <a:defRPr sz="1900"/>
            </a:pPr>
            <a:r>
              <a:rPr lang="en-US" dirty="0"/>
              <a:t>Biological vision transmits changes instead of complete frames.</a:t>
            </a:r>
          </a:p>
          <a:p>
            <a:pPr marL="0" indent="0">
              <a:buNone/>
              <a:defRPr sz="1900"/>
            </a:pPr>
            <a:r>
              <a:rPr lang="en-US" dirty="0"/>
              <a:t>Most pixels are inactive at any instant.</a:t>
            </a:r>
          </a:p>
          <a:p>
            <a:pPr marL="0" indent="0">
              <a:buNone/>
              <a:defRPr sz="1900"/>
            </a:pPr>
            <a:r>
              <a:rPr lang="en-US" dirty="0"/>
              <a:t>Reading every pixel wastes bandwidth and power.</a:t>
            </a:r>
          </a:p>
          <a:p>
            <a:pPr marL="0" indent="0">
              <a:buNone/>
              <a:defRPr sz="1900"/>
            </a:pPr>
            <a:r>
              <a:rPr lang="en-US" dirty="0"/>
              <a:t>AER communicates only active neuron events.</a:t>
            </a:r>
          </a:p>
          <a:p>
            <a:endParaRPr lang="en-IN" dirty="0"/>
          </a:p>
        </p:txBody>
      </p:sp>
      <p:sp>
        <p:nvSpPr>
          <p:cNvPr id="4" name="TextBox 3">
            <a:extLst>
              <a:ext uri="{FF2B5EF4-FFF2-40B4-BE49-F238E27FC236}">
                <a16:creationId xmlns:a16="http://schemas.microsoft.com/office/drawing/2014/main" id="{7E4AE196-BAEB-D082-E3EA-8EBCDBA66E46}"/>
              </a:ext>
            </a:extLst>
          </p:cNvPr>
          <p:cNvSpPr txBox="1"/>
          <p:nvPr/>
        </p:nvSpPr>
        <p:spPr>
          <a:xfrm>
            <a:off x="1371600" y="0"/>
            <a:ext cx="9177867" cy="800219"/>
          </a:xfrm>
          <a:prstGeom prst="rect">
            <a:avLst/>
          </a:prstGeom>
          <a:noFill/>
        </p:spPr>
        <p:txBody>
          <a:bodyPr wrap="square" rtlCol="0">
            <a:spAutoFit/>
          </a:bodyPr>
          <a:lstStyle/>
          <a:p>
            <a:r>
              <a:rPr lang="en-IN" sz="2800" dirty="0"/>
              <a:t>Limitations of Frame-Based Readout</a:t>
            </a:r>
          </a:p>
          <a:p>
            <a:endParaRPr lang="en-IN" dirty="0"/>
          </a:p>
        </p:txBody>
      </p:sp>
      <p:sp>
        <p:nvSpPr>
          <p:cNvPr id="5" name="TextBox 4">
            <a:extLst>
              <a:ext uri="{FF2B5EF4-FFF2-40B4-BE49-F238E27FC236}">
                <a16:creationId xmlns:a16="http://schemas.microsoft.com/office/drawing/2014/main" id="{4BB73835-7877-8A28-1A7D-F5CE6ABB0355}"/>
              </a:ext>
            </a:extLst>
          </p:cNvPr>
          <p:cNvSpPr txBox="1"/>
          <p:nvPr/>
        </p:nvSpPr>
        <p:spPr>
          <a:xfrm>
            <a:off x="1498601" y="778933"/>
            <a:ext cx="6375400" cy="969496"/>
          </a:xfrm>
          <a:prstGeom prst="rect">
            <a:avLst/>
          </a:prstGeom>
          <a:noFill/>
        </p:spPr>
        <p:txBody>
          <a:bodyPr wrap="square" rtlCol="0">
            <a:spAutoFit/>
          </a:bodyPr>
          <a:lstStyle/>
          <a:p>
            <a:pPr>
              <a:defRPr sz="1900"/>
            </a:pPr>
            <a:r>
              <a:rPr lang="en-US" dirty="0"/>
              <a:t>Every pixel is sampled every frame.</a:t>
            </a:r>
          </a:p>
          <a:p>
            <a:pPr>
              <a:defRPr sz="1900"/>
            </a:pPr>
            <a:r>
              <a:rPr lang="en-US" dirty="0"/>
              <a:t>Power scales with total number of pixels.</a:t>
            </a:r>
          </a:p>
          <a:p>
            <a:pPr>
              <a:defRPr sz="1900"/>
            </a:pPr>
            <a:r>
              <a:rPr lang="en-US" dirty="0"/>
              <a:t>Large data bandwidth even for sparse scenes.</a:t>
            </a:r>
          </a:p>
        </p:txBody>
      </p:sp>
      <p:pic>
        <p:nvPicPr>
          <p:cNvPr id="7" name="Picture 6">
            <a:extLst>
              <a:ext uri="{FF2B5EF4-FFF2-40B4-BE49-F238E27FC236}">
                <a16:creationId xmlns:a16="http://schemas.microsoft.com/office/drawing/2014/main" id="{472C5439-23C9-0209-5496-0E93C92C058F}"/>
              </a:ext>
            </a:extLst>
          </p:cNvPr>
          <p:cNvPicPr>
            <a:picLocks noChangeAspect="1"/>
          </p:cNvPicPr>
          <p:nvPr/>
        </p:nvPicPr>
        <p:blipFill>
          <a:blip r:embed="rId2"/>
          <a:stretch>
            <a:fillRect/>
          </a:stretch>
        </p:blipFill>
        <p:spPr>
          <a:xfrm>
            <a:off x="7455347" y="400109"/>
            <a:ext cx="4618120" cy="4016088"/>
          </a:xfrm>
          <a:prstGeom prst="rect">
            <a:avLst/>
          </a:prstGeom>
        </p:spPr>
      </p:pic>
    </p:spTree>
    <p:extLst>
      <p:ext uri="{BB962C8B-B14F-4D97-AF65-F5344CB8AC3E}">
        <p14:creationId xmlns:p14="http://schemas.microsoft.com/office/powerpoint/2010/main" val="907623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EA3D9-EB7A-E011-6139-12B5EAEC18B8}"/>
              </a:ext>
            </a:extLst>
          </p:cNvPr>
          <p:cNvSpPr>
            <a:spLocks noGrp="1"/>
          </p:cNvSpPr>
          <p:nvPr>
            <p:ph type="title"/>
          </p:nvPr>
        </p:nvSpPr>
        <p:spPr>
          <a:xfrm>
            <a:off x="1371600" y="685800"/>
            <a:ext cx="8593667" cy="601133"/>
          </a:xfrm>
        </p:spPr>
        <p:txBody>
          <a:bodyPr>
            <a:normAutofit fontScale="90000"/>
          </a:bodyPr>
          <a:lstStyle/>
          <a:p>
            <a:r>
              <a:rPr lang="en-IN" dirty="0"/>
              <a:t>Address Event Representation (AER)</a:t>
            </a:r>
          </a:p>
        </p:txBody>
      </p:sp>
      <p:sp>
        <p:nvSpPr>
          <p:cNvPr id="3" name="Content Placeholder 2">
            <a:extLst>
              <a:ext uri="{FF2B5EF4-FFF2-40B4-BE49-F238E27FC236}">
                <a16:creationId xmlns:a16="http://schemas.microsoft.com/office/drawing/2014/main" id="{27B3E8F0-F52F-2CE2-19D2-8BCD5E5E638E}"/>
              </a:ext>
            </a:extLst>
          </p:cNvPr>
          <p:cNvSpPr>
            <a:spLocks noGrp="1"/>
          </p:cNvSpPr>
          <p:nvPr>
            <p:ph idx="1"/>
          </p:nvPr>
        </p:nvSpPr>
        <p:spPr>
          <a:xfrm>
            <a:off x="1371600" y="1456267"/>
            <a:ext cx="9601200" cy="1820333"/>
          </a:xfrm>
        </p:spPr>
        <p:txBody>
          <a:bodyPr/>
          <a:lstStyle/>
          <a:p>
            <a:pPr marL="0" indent="0">
              <a:buNone/>
              <a:defRPr sz="1900"/>
            </a:pPr>
            <a:r>
              <a:rPr lang="en-US" dirty="0"/>
              <a:t>Each neuron has a unique digital address.</a:t>
            </a:r>
          </a:p>
          <a:p>
            <a:pPr marL="0" indent="0">
              <a:buNone/>
              <a:defRPr sz="1900"/>
            </a:pPr>
            <a:r>
              <a:rPr lang="en-US" dirty="0"/>
              <a:t>When a neuron spikes, it requests the shared communication bus.</a:t>
            </a:r>
          </a:p>
          <a:p>
            <a:pPr marL="0" indent="0">
              <a:buNone/>
              <a:defRPr sz="1900"/>
            </a:pPr>
            <a:r>
              <a:rPr lang="en-US" dirty="0"/>
              <a:t>An arbiter resolves simultaneous requests.</a:t>
            </a:r>
          </a:p>
          <a:p>
            <a:pPr marL="0" indent="0">
              <a:buNone/>
              <a:defRPr sz="1900"/>
            </a:pPr>
            <a:r>
              <a:rPr lang="en-US" dirty="0"/>
              <a:t>Only the address is transmitted to the receiver.</a:t>
            </a:r>
          </a:p>
          <a:p>
            <a:endParaRPr lang="en-IN" dirty="0"/>
          </a:p>
        </p:txBody>
      </p:sp>
      <p:sp>
        <p:nvSpPr>
          <p:cNvPr id="4" name="Rectangle 3">
            <a:extLst>
              <a:ext uri="{FF2B5EF4-FFF2-40B4-BE49-F238E27FC236}">
                <a16:creationId xmlns:a16="http://schemas.microsoft.com/office/drawing/2014/main" id="{240D9C7A-E479-4CD5-BFCD-8F6BE346150B}"/>
              </a:ext>
            </a:extLst>
          </p:cNvPr>
          <p:cNvSpPr/>
          <p:nvPr/>
        </p:nvSpPr>
        <p:spPr>
          <a:xfrm>
            <a:off x="1371600" y="3640667"/>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light</a:t>
            </a:r>
          </a:p>
        </p:txBody>
      </p:sp>
      <p:sp>
        <p:nvSpPr>
          <p:cNvPr id="5" name="Arrow: Right 4">
            <a:extLst>
              <a:ext uri="{FF2B5EF4-FFF2-40B4-BE49-F238E27FC236}">
                <a16:creationId xmlns:a16="http://schemas.microsoft.com/office/drawing/2014/main" id="{C9B4A54F-FF63-5BB0-2B2D-5F827C3ADEF0}"/>
              </a:ext>
            </a:extLst>
          </p:cNvPr>
          <p:cNvSpPr/>
          <p:nvPr/>
        </p:nvSpPr>
        <p:spPr>
          <a:xfrm>
            <a:off x="2286000" y="3855551"/>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90A5F5DC-2BB9-C189-AC89-3C1B54408DD0}"/>
              </a:ext>
            </a:extLst>
          </p:cNvPr>
          <p:cNvSpPr/>
          <p:nvPr/>
        </p:nvSpPr>
        <p:spPr>
          <a:xfrm>
            <a:off x="3264407" y="3680967"/>
            <a:ext cx="1620860" cy="874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Photodetector</a:t>
            </a:r>
            <a:br>
              <a:rPr lang="en-IN" dirty="0"/>
            </a:br>
            <a:r>
              <a:rPr lang="en-IN" dirty="0"/>
              <a:t>array</a:t>
            </a:r>
          </a:p>
        </p:txBody>
      </p:sp>
      <p:sp>
        <p:nvSpPr>
          <p:cNvPr id="7" name="Arrow: Right 6">
            <a:extLst>
              <a:ext uri="{FF2B5EF4-FFF2-40B4-BE49-F238E27FC236}">
                <a16:creationId xmlns:a16="http://schemas.microsoft.com/office/drawing/2014/main" id="{1C1125F4-62B9-BB26-8FEE-88D766F8F66B}"/>
              </a:ext>
            </a:extLst>
          </p:cNvPr>
          <p:cNvSpPr/>
          <p:nvPr/>
        </p:nvSpPr>
        <p:spPr>
          <a:xfrm>
            <a:off x="4885266" y="3855551"/>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9E105254-E5CC-2AAB-7FD6-5B3771FAF04C}"/>
              </a:ext>
            </a:extLst>
          </p:cNvPr>
          <p:cNvSpPr/>
          <p:nvPr/>
        </p:nvSpPr>
        <p:spPr>
          <a:xfrm>
            <a:off x="5863674" y="3660817"/>
            <a:ext cx="1443061"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Pixel Spike Generation</a:t>
            </a:r>
          </a:p>
        </p:txBody>
      </p:sp>
      <p:sp>
        <p:nvSpPr>
          <p:cNvPr id="9" name="Arrow: Right 8">
            <a:extLst>
              <a:ext uri="{FF2B5EF4-FFF2-40B4-BE49-F238E27FC236}">
                <a16:creationId xmlns:a16="http://schemas.microsoft.com/office/drawing/2014/main" id="{66487640-ED97-1E1C-C759-35D3F0AA0520}"/>
              </a:ext>
            </a:extLst>
          </p:cNvPr>
          <p:cNvSpPr/>
          <p:nvPr/>
        </p:nvSpPr>
        <p:spPr>
          <a:xfrm>
            <a:off x="7306734" y="3855551"/>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0F5A8ADE-3FE4-0B7B-E8A1-675A108EAFA0}"/>
              </a:ext>
            </a:extLst>
          </p:cNvPr>
          <p:cNvSpPr/>
          <p:nvPr/>
        </p:nvSpPr>
        <p:spPr>
          <a:xfrm>
            <a:off x="8293608" y="3581401"/>
            <a:ext cx="1671659" cy="9938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2D Arbiter (Row + Column)</a:t>
            </a:r>
          </a:p>
        </p:txBody>
      </p:sp>
      <p:sp>
        <p:nvSpPr>
          <p:cNvPr id="11" name="Arrow: Down 10">
            <a:extLst>
              <a:ext uri="{FF2B5EF4-FFF2-40B4-BE49-F238E27FC236}">
                <a16:creationId xmlns:a16="http://schemas.microsoft.com/office/drawing/2014/main" id="{EEF3F68A-458F-E4CD-8B02-C697AB41C8F2}"/>
              </a:ext>
            </a:extLst>
          </p:cNvPr>
          <p:cNvSpPr/>
          <p:nvPr/>
        </p:nvSpPr>
        <p:spPr>
          <a:xfrm>
            <a:off x="8887121" y="4555067"/>
            <a:ext cx="484632" cy="9784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EB805E6B-E9F3-5681-D078-0E6A74254FA1}"/>
              </a:ext>
            </a:extLst>
          </p:cNvPr>
          <p:cNvSpPr/>
          <p:nvPr/>
        </p:nvSpPr>
        <p:spPr>
          <a:xfrm>
            <a:off x="8539819" y="5548883"/>
            <a:ext cx="1179236"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Address Encoder </a:t>
            </a:r>
          </a:p>
        </p:txBody>
      </p:sp>
      <p:sp>
        <p:nvSpPr>
          <p:cNvPr id="13" name="Arrow: Right 12">
            <a:extLst>
              <a:ext uri="{FF2B5EF4-FFF2-40B4-BE49-F238E27FC236}">
                <a16:creationId xmlns:a16="http://schemas.microsoft.com/office/drawing/2014/main" id="{6DA59B20-F322-AC6E-3637-8C4C72D7A891}"/>
              </a:ext>
            </a:extLst>
          </p:cNvPr>
          <p:cNvSpPr/>
          <p:nvPr/>
        </p:nvSpPr>
        <p:spPr>
          <a:xfrm rot="10800000">
            <a:off x="7561411" y="5763767"/>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Rectangle 13">
            <a:extLst>
              <a:ext uri="{FF2B5EF4-FFF2-40B4-BE49-F238E27FC236}">
                <a16:creationId xmlns:a16="http://schemas.microsoft.com/office/drawing/2014/main" id="{ED01B67C-2513-6BF8-BBE8-159D0D9468C4}"/>
              </a:ext>
            </a:extLst>
          </p:cNvPr>
          <p:cNvSpPr/>
          <p:nvPr/>
        </p:nvSpPr>
        <p:spPr>
          <a:xfrm>
            <a:off x="6290733" y="5552099"/>
            <a:ext cx="1302682"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Receiver</a:t>
            </a:r>
            <a:br>
              <a:rPr lang="en-IN" dirty="0"/>
            </a:br>
            <a:r>
              <a:rPr lang="en-IN" dirty="0"/>
              <a:t>(Ack signal) </a:t>
            </a:r>
          </a:p>
        </p:txBody>
      </p:sp>
      <p:sp>
        <p:nvSpPr>
          <p:cNvPr id="15" name="Arrow: Down 14">
            <a:extLst>
              <a:ext uri="{FF2B5EF4-FFF2-40B4-BE49-F238E27FC236}">
                <a16:creationId xmlns:a16="http://schemas.microsoft.com/office/drawing/2014/main" id="{A4ED8DC8-0100-3368-D34B-94DC011D4387}"/>
              </a:ext>
            </a:extLst>
          </p:cNvPr>
          <p:cNvSpPr/>
          <p:nvPr/>
        </p:nvSpPr>
        <p:spPr>
          <a:xfrm rot="5400000">
            <a:off x="5557884" y="5515551"/>
            <a:ext cx="484632" cy="98106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4EC7FE70-9B11-B851-5C2A-D9689481250F}"/>
              </a:ext>
            </a:extLst>
          </p:cNvPr>
          <p:cNvSpPr/>
          <p:nvPr/>
        </p:nvSpPr>
        <p:spPr>
          <a:xfrm>
            <a:off x="4006985" y="5548883"/>
            <a:ext cx="1302682"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Reset Pixel </a:t>
            </a:r>
          </a:p>
        </p:txBody>
      </p:sp>
    </p:spTree>
    <p:extLst>
      <p:ext uri="{BB962C8B-B14F-4D97-AF65-F5344CB8AC3E}">
        <p14:creationId xmlns:p14="http://schemas.microsoft.com/office/powerpoint/2010/main" val="1389653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A1AF5-907E-72F3-DC9A-4C53EC423C02}"/>
              </a:ext>
            </a:extLst>
          </p:cNvPr>
          <p:cNvSpPr>
            <a:spLocks noGrp="1"/>
          </p:cNvSpPr>
          <p:nvPr>
            <p:ph type="title"/>
          </p:nvPr>
        </p:nvSpPr>
        <p:spPr>
          <a:xfrm>
            <a:off x="1371600" y="685800"/>
            <a:ext cx="7078133" cy="575733"/>
          </a:xfrm>
        </p:spPr>
        <p:txBody>
          <a:bodyPr>
            <a:normAutofit fontScale="90000"/>
          </a:bodyPr>
          <a:lstStyle/>
          <a:p>
            <a:r>
              <a:rPr lang="en-IN" sz="3100" dirty="0"/>
              <a:t>Two-Dimensional AER</a:t>
            </a:r>
            <a:br>
              <a:rPr lang="en-IN" dirty="0"/>
            </a:br>
            <a:endParaRPr lang="en-IN" dirty="0"/>
          </a:p>
        </p:txBody>
      </p:sp>
      <p:sp>
        <p:nvSpPr>
          <p:cNvPr id="3" name="Content Placeholder 2">
            <a:extLst>
              <a:ext uri="{FF2B5EF4-FFF2-40B4-BE49-F238E27FC236}">
                <a16:creationId xmlns:a16="http://schemas.microsoft.com/office/drawing/2014/main" id="{A85EE9E5-327E-1CA2-A0E0-F34EF5DA6A80}"/>
              </a:ext>
            </a:extLst>
          </p:cNvPr>
          <p:cNvSpPr>
            <a:spLocks noGrp="1"/>
          </p:cNvSpPr>
          <p:nvPr>
            <p:ph idx="1"/>
          </p:nvPr>
        </p:nvSpPr>
        <p:spPr>
          <a:xfrm>
            <a:off x="1371600" y="1261534"/>
            <a:ext cx="9601200" cy="1845733"/>
          </a:xfrm>
        </p:spPr>
        <p:txBody>
          <a:bodyPr/>
          <a:lstStyle/>
          <a:p>
            <a:pPr marL="0" indent="0">
              <a:buNone/>
              <a:defRPr sz="1900"/>
            </a:pPr>
            <a:r>
              <a:rPr lang="en-US" dirty="0"/>
              <a:t>Pixels arranged in rows and columns.</a:t>
            </a:r>
          </a:p>
          <a:p>
            <a:pPr marL="0" indent="0">
              <a:buNone/>
              <a:defRPr sz="1900"/>
            </a:pPr>
            <a:r>
              <a:rPr lang="en-US" dirty="0"/>
              <a:t>Vertical arbiter selects a row.</a:t>
            </a:r>
          </a:p>
          <a:p>
            <a:pPr marL="0" indent="0">
              <a:buNone/>
              <a:defRPr sz="1900"/>
            </a:pPr>
            <a:r>
              <a:rPr lang="en-US" dirty="0"/>
              <a:t>Horizontal arbiter selects a column within that row.</a:t>
            </a:r>
          </a:p>
          <a:p>
            <a:pPr marL="0" indent="0">
              <a:buNone/>
              <a:defRPr sz="1900"/>
            </a:pPr>
            <a:r>
              <a:rPr lang="en-US" dirty="0"/>
              <a:t>(Row, Column) uniquely identifies the active neuron.</a:t>
            </a:r>
          </a:p>
          <a:p>
            <a:endParaRPr lang="en-IN" dirty="0"/>
          </a:p>
        </p:txBody>
      </p:sp>
      <p:sp>
        <p:nvSpPr>
          <p:cNvPr id="4" name="TextBox 3">
            <a:extLst>
              <a:ext uri="{FF2B5EF4-FFF2-40B4-BE49-F238E27FC236}">
                <a16:creationId xmlns:a16="http://schemas.microsoft.com/office/drawing/2014/main" id="{4A3F3C31-9C65-F8D3-E784-8E968B032B17}"/>
              </a:ext>
            </a:extLst>
          </p:cNvPr>
          <p:cNvSpPr txBox="1"/>
          <p:nvPr/>
        </p:nvSpPr>
        <p:spPr>
          <a:xfrm>
            <a:off x="1371600" y="3107267"/>
            <a:ext cx="5875867" cy="523220"/>
          </a:xfrm>
          <a:prstGeom prst="rect">
            <a:avLst/>
          </a:prstGeom>
          <a:noFill/>
        </p:spPr>
        <p:txBody>
          <a:bodyPr wrap="square" rtlCol="0">
            <a:spAutoFit/>
          </a:bodyPr>
          <a:lstStyle/>
          <a:p>
            <a:r>
              <a:rPr lang="en-IN" sz="2800" dirty="0"/>
              <a:t>Arbiter Architecture</a:t>
            </a:r>
          </a:p>
        </p:txBody>
      </p:sp>
      <p:sp>
        <p:nvSpPr>
          <p:cNvPr id="5" name="TextBox 4">
            <a:extLst>
              <a:ext uri="{FF2B5EF4-FFF2-40B4-BE49-F238E27FC236}">
                <a16:creationId xmlns:a16="http://schemas.microsoft.com/office/drawing/2014/main" id="{1CFC1BA3-F1E1-DA56-058A-5A70EF8760E5}"/>
              </a:ext>
            </a:extLst>
          </p:cNvPr>
          <p:cNvSpPr txBox="1"/>
          <p:nvPr/>
        </p:nvSpPr>
        <p:spPr>
          <a:xfrm>
            <a:off x="1371600" y="3630487"/>
            <a:ext cx="2963333" cy="1477328"/>
          </a:xfrm>
          <a:prstGeom prst="rect">
            <a:avLst/>
          </a:prstGeom>
          <a:noFill/>
        </p:spPr>
        <p:txBody>
          <a:bodyPr wrap="square" rtlCol="0">
            <a:spAutoFit/>
          </a:bodyPr>
          <a:lstStyle/>
          <a:p>
            <a:r>
              <a:rPr lang="en-IN" dirty="0"/>
              <a:t>1) Request Generation</a:t>
            </a:r>
            <a:br>
              <a:rPr lang="en-IN" dirty="0"/>
            </a:br>
            <a:r>
              <a:rPr lang="en-IN" dirty="0"/>
              <a:t>2) Steering Network</a:t>
            </a:r>
            <a:br>
              <a:rPr lang="en-IN" dirty="0"/>
            </a:br>
            <a:r>
              <a:rPr lang="en-IN" dirty="0"/>
              <a:t>3) Choosing (Winner Selection)</a:t>
            </a:r>
            <a:br>
              <a:rPr lang="en-IN" dirty="0"/>
            </a:br>
            <a:endParaRPr lang="en-IN" dirty="0"/>
          </a:p>
        </p:txBody>
      </p:sp>
      <p:sp>
        <p:nvSpPr>
          <p:cNvPr id="13" name="Rounded Rectangle 3">
            <a:extLst>
              <a:ext uri="{FF2B5EF4-FFF2-40B4-BE49-F238E27FC236}">
                <a16:creationId xmlns:a16="http://schemas.microsoft.com/office/drawing/2014/main" id="{5730292A-9C61-01AE-9B15-C13F985A21DB}"/>
              </a:ext>
            </a:extLst>
          </p:cNvPr>
          <p:cNvSpPr/>
          <p:nvPr/>
        </p:nvSpPr>
        <p:spPr>
          <a:xfrm>
            <a:off x="4961467" y="3323157"/>
            <a:ext cx="1828800" cy="4114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t>R1,R2,R3</a:t>
            </a:r>
          </a:p>
        </p:txBody>
      </p:sp>
      <p:sp>
        <p:nvSpPr>
          <p:cNvPr id="14" name="TextBox 4">
            <a:extLst>
              <a:ext uri="{FF2B5EF4-FFF2-40B4-BE49-F238E27FC236}">
                <a16:creationId xmlns:a16="http://schemas.microsoft.com/office/drawing/2014/main" id="{B2024540-D259-3ADC-37A3-CCCF7CC2A75C}"/>
              </a:ext>
            </a:extLst>
          </p:cNvPr>
          <p:cNvSpPr txBox="1"/>
          <p:nvPr/>
        </p:nvSpPr>
        <p:spPr>
          <a:xfrm>
            <a:off x="5784427" y="3707205"/>
            <a:ext cx="182880" cy="18288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t>↓</a:t>
            </a:r>
          </a:p>
        </p:txBody>
      </p:sp>
      <p:sp>
        <p:nvSpPr>
          <p:cNvPr id="15" name="Rounded Rectangle 5">
            <a:extLst>
              <a:ext uri="{FF2B5EF4-FFF2-40B4-BE49-F238E27FC236}">
                <a16:creationId xmlns:a16="http://schemas.microsoft.com/office/drawing/2014/main" id="{15A8B0E2-03A4-769A-52C4-741801CC2267}"/>
              </a:ext>
            </a:extLst>
          </p:cNvPr>
          <p:cNvSpPr/>
          <p:nvPr/>
        </p:nvSpPr>
        <p:spPr>
          <a:xfrm>
            <a:off x="4961467" y="4069418"/>
            <a:ext cx="1828800" cy="4114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rPr dirty="0"/>
              <a:t>Competition</a:t>
            </a:r>
          </a:p>
        </p:txBody>
      </p:sp>
      <p:sp>
        <p:nvSpPr>
          <p:cNvPr id="16" name="TextBox 6">
            <a:extLst>
              <a:ext uri="{FF2B5EF4-FFF2-40B4-BE49-F238E27FC236}">
                <a16:creationId xmlns:a16="http://schemas.microsoft.com/office/drawing/2014/main" id="{7A0565E7-5634-FC96-BD3A-1461F050CF57}"/>
              </a:ext>
            </a:extLst>
          </p:cNvPr>
          <p:cNvSpPr txBox="1"/>
          <p:nvPr/>
        </p:nvSpPr>
        <p:spPr>
          <a:xfrm>
            <a:off x="5784427" y="4447869"/>
            <a:ext cx="182880" cy="18288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dirty="0"/>
              <a:t>↓</a:t>
            </a:r>
          </a:p>
        </p:txBody>
      </p:sp>
      <p:sp>
        <p:nvSpPr>
          <p:cNvPr id="17" name="Rounded Rectangle 7">
            <a:extLst>
              <a:ext uri="{FF2B5EF4-FFF2-40B4-BE49-F238E27FC236}">
                <a16:creationId xmlns:a16="http://schemas.microsoft.com/office/drawing/2014/main" id="{06D0E332-0F44-ADDC-699D-40B5401132E8}"/>
              </a:ext>
            </a:extLst>
          </p:cNvPr>
          <p:cNvSpPr/>
          <p:nvPr/>
        </p:nvSpPr>
        <p:spPr>
          <a:xfrm>
            <a:off x="4961467" y="4852236"/>
            <a:ext cx="1828800" cy="4114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t>Winner</a:t>
            </a:r>
          </a:p>
        </p:txBody>
      </p:sp>
      <p:sp>
        <p:nvSpPr>
          <p:cNvPr id="18" name="TextBox 8">
            <a:extLst>
              <a:ext uri="{FF2B5EF4-FFF2-40B4-BE49-F238E27FC236}">
                <a16:creationId xmlns:a16="http://schemas.microsoft.com/office/drawing/2014/main" id="{D48F9FC2-B2E8-1DEF-BCD0-9D3B0F3753E4}"/>
              </a:ext>
            </a:extLst>
          </p:cNvPr>
          <p:cNvSpPr txBox="1"/>
          <p:nvPr/>
        </p:nvSpPr>
        <p:spPr>
          <a:xfrm>
            <a:off x="5784427" y="5214191"/>
            <a:ext cx="182880" cy="18288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dirty="0"/>
              <a:t>↓</a:t>
            </a:r>
          </a:p>
        </p:txBody>
      </p:sp>
      <p:sp>
        <p:nvSpPr>
          <p:cNvPr id="19" name="Rounded Rectangle 9">
            <a:extLst>
              <a:ext uri="{FF2B5EF4-FFF2-40B4-BE49-F238E27FC236}">
                <a16:creationId xmlns:a16="http://schemas.microsoft.com/office/drawing/2014/main" id="{6A1FEC65-0AC6-93B0-0A97-1FFE1643758A}"/>
              </a:ext>
            </a:extLst>
          </p:cNvPr>
          <p:cNvSpPr/>
          <p:nvPr/>
        </p:nvSpPr>
        <p:spPr>
          <a:xfrm>
            <a:off x="4961467" y="5596466"/>
            <a:ext cx="1828800" cy="4114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r>
              <a:t>Address</a:t>
            </a:r>
          </a:p>
        </p:txBody>
      </p:sp>
    </p:spTree>
    <p:extLst>
      <p:ext uri="{BB962C8B-B14F-4D97-AF65-F5344CB8AC3E}">
        <p14:creationId xmlns:p14="http://schemas.microsoft.com/office/powerpoint/2010/main" val="2484689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E01AE-998F-196E-0DF6-CEA066460FF6}"/>
              </a:ext>
            </a:extLst>
          </p:cNvPr>
          <p:cNvSpPr>
            <a:spLocks noGrp="1"/>
          </p:cNvSpPr>
          <p:nvPr>
            <p:ph type="title"/>
          </p:nvPr>
        </p:nvSpPr>
        <p:spPr>
          <a:xfrm>
            <a:off x="1371600" y="685800"/>
            <a:ext cx="8441267" cy="728133"/>
          </a:xfrm>
        </p:spPr>
        <p:txBody>
          <a:bodyPr>
            <a:normAutofit/>
          </a:bodyPr>
          <a:lstStyle/>
          <a:p>
            <a:r>
              <a:rPr lang="en-IN" sz="2800" dirty="0"/>
              <a:t>Request generating circuit</a:t>
            </a:r>
          </a:p>
        </p:txBody>
      </p:sp>
      <p:pic>
        <p:nvPicPr>
          <p:cNvPr id="5" name="Content Placeholder 4">
            <a:extLst>
              <a:ext uri="{FF2B5EF4-FFF2-40B4-BE49-F238E27FC236}">
                <a16:creationId xmlns:a16="http://schemas.microsoft.com/office/drawing/2014/main" id="{2DFE1CAE-44D1-AFD3-8CE0-ED51525E89EE}"/>
              </a:ext>
            </a:extLst>
          </p:cNvPr>
          <p:cNvPicPr>
            <a:picLocks noGrp="1" noChangeAspect="1"/>
          </p:cNvPicPr>
          <p:nvPr>
            <p:ph idx="1"/>
          </p:nvPr>
        </p:nvPicPr>
        <p:blipFill>
          <a:blip r:embed="rId2"/>
          <a:stretch>
            <a:fillRect/>
          </a:stretch>
        </p:blipFill>
        <p:spPr>
          <a:xfrm>
            <a:off x="1371600" y="1413933"/>
            <a:ext cx="4473328" cy="2309060"/>
          </a:xfrm>
          <a:prstGeom prst="rect">
            <a:avLst/>
          </a:prstGeom>
        </p:spPr>
      </p:pic>
      <p:sp>
        <p:nvSpPr>
          <p:cNvPr id="8" name="TextBox 7">
            <a:extLst>
              <a:ext uri="{FF2B5EF4-FFF2-40B4-BE49-F238E27FC236}">
                <a16:creationId xmlns:a16="http://schemas.microsoft.com/office/drawing/2014/main" id="{8EDB2E03-9854-7C3D-45B5-6B978BCC290C}"/>
              </a:ext>
            </a:extLst>
          </p:cNvPr>
          <p:cNvSpPr txBox="1"/>
          <p:nvPr/>
        </p:nvSpPr>
        <p:spPr>
          <a:xfrm>
            <a:off x="1371600" y="4037861"/>
            <a:ext cx="6375885" cy="1477328"/>
          </a:xfrm>
          <a:prstGeom prst="rect">
            <a:avLst/>
          </a:prstGeom>
          <a:noFill/>
        </p:spPr>
        <p:txBody>
          <a:bodyPr wrap="square" rtlCol="0">
            <a:spAutoFit/>
          </a:bodyPr>
          <a:lstStyle/>
          <a:p>
            <a:r>
              <a:rPr lang="en-IN" dirty="0"/>
              <a:t>The photodetector converts light into a photocurrent.</a:t>
            </a:r>
          </a:p>
          <a:p>
            <a:r>
              <a:rPr lang="en-IN" dirty="0"/>
              <a:t>The pixel integrates this current. </a:t>
            </a:r>
          </a:p>
          <a:p>
            <a:r>
              <a:rPr lang="en-IN" dirty="0"/>
              <a:t>Once the voltage reaches the threshold, the neuron fires. </a:t>
            </a:r>
            <a:br>
              <a:rPr lang="en-IN" dirty="0"/>
            </a:br>
            <a:r>
              <a:rPr lang="en-IN" dirty="0"/>
              <a:t>The neuron produces a request signal indicating that it wants to send its address.</a:t>
            </a:r>
          </a:p>
        </p:txBody>
      </p:sp>
    </p:spTree>
    <p:extLst>
      <p:ext uri="{BB962C8B-B14F-4D97-AF65-F5344CB8AC3E}">
        <p14:creationId xmlns:p14="http://schemas.microsoft.com/office/powerpoint/2010/main" val="2857498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9336530-AE4A-B724-7F32-D16552D3A8A7}"/>
              </a:ext>
            </a:extLst>
          </p:cNvPr>
          <p:cNvPicPr>
            <a:picLocks noChangeAspect="1"/>
          </p:cNvPicPr>
          <p:nvPr/>
        </p:nvPicPr>
        <p:blipFill>
          <a:blip r:embed="rId2"/>
          <a:stretch>
            <a:fillRect/>
          </a:stretch>
        </p:blipFill>
        <p:spPr>
          <a:xfrm>
            <a:off x="1034051" y="745066"/>
            <a:ext cx="4867216" cy="4929683"/>
          </a:xfrm>
          <a:prstGeom prst="rect">
            <a:avLst/>
          </a:prstGeom>
        </p:spPr>
      </p:pic>
      <p:pic>
        <p:nvPicPr>
          <p:cNvPr id="7" name="Picture 6">
            <a:extLst>
              <a:ext uri="{FF2B5EF4-FFF2-40B4-BE49-F238E27FC236}">
                <a16:creationId xmlns:a16="http://schemas.microsoft.com/office/drawing/2014/main" id="{9925A280-F949-7B58-AC6B-0735474473C5}"/>
              </a:ext>
            </a:extLst>
          </p:cNvPr>
          <p:cNvPicPr>
            <a:picLocks noChangeAspect="1"/>
          </p:cNvPicPr>
          <p:nvPr/>
        </p:nvPicPr>
        <p:blipFill>
          <a:blip r:embed="rId3"/>
          <a:stretch>
            <a:fillRect/>
          </a:stretch>
        </p:blipFill>
        <p:spPr>
          <a:xfrm>
            <a:off x="6096000" y="1308791"/>
            <a:ext cx="5585944" cy="3596952"/>
          </a:xfrm>
          <a:prstGeom prst="rect">
            <a:avLst/>
          </a:prstGeom>
        </p:spPr>
      </p:pic>
    </p:spTree>
    <p:extLst>
      <p:ext uri="{BB962C8B-B14F-4D97-AF65-F5344CB8AC3E}">
        <p14:creationId xmlns:p14="http://schemas.microsoft.com/office/powerpoint/2010/main" val="1836397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CFC0D-C894-041A-414D-A4E59637C3F9}"/>
              </a:ext>
            </a:extLst>
          </p:cNvPr>
          <p:cNvSpPr>
            <a:spLocks noGrp="1"/>
          </p:cNvSpPr>
          <p:nvPr>
            <p:ph type="title"/>
          </p:nvPr>
        </p:nvSpPr>
        <p:spPr>
          <a:xfrm>
            <a:off x="1371601" y="685801"/>
            <a:ext cx="9042400" cy="482600"/>
          </a:xfrm>
        </p:spPr>
        <p:txBody>
          <a:bodyPr>
            <a:normAutofit/>
          </a:bodyPr>
          <a:lstStyle/>
          <a:p>
            <a:r>
              <a:rPr lang="en-IN" sz="2800" dirty="0"/>
              <a:t>Steering circuit and Choosing circuit </a:t>
            </a:r>
          </a:p>
        </p:txBody>
      </p:sp>
      <p:pic>
        <p:nvPicPr>
          <p:cNvPr id="5" name="Content Placeholder 4">
            <a:extLst>
              <a:ext uri="{FF2B5EF4-FFF2-40B4-BE49-F238E27FC236}">
                <a16:creationId xmlns:a16="http://schemas.microsoft.com/office/drawing/2014/main" id="{383F892A-7079-03A7-584E-418C2BAABC89}"/>
              </a:ext>
            </a:extLst>
          </p:cNvPr>
          <p:cNvPicPr>
            <a:picLocks noGrp="1" noChangeAspect="1"/>
          </p:cNvPicPr>
          <p:nvPr>
            <p:ph idx="1"/>
          </p:nvPr>
        </p:nvPicPr>
        <p:blipFill>
          <a:blip r:embed="rId2"/>
          <a:stretch>
            <a:fillRect/>
          </a:stretch>
        </p:blipFill>
        <p:spPr>
          <a:xfrm>
            <a:off x="1371601" y="1371422"/>
            <a:ext cx="4305173" cy="2235378"/>
          </a:xfrm>
          <a:prstGeom prst="rect">
            <a:avLst/>
          </a:prstGeom>
        </p:spPr>
      </p:pic>
      <p:sp>
        <p:nvSpPr>
          <p:cNvPr id="6" name="TextBox 5">
            <a:extLst>
              <a:ext uri="{FF2B5EF4-FFF2-40B4-BE49-F238E27FC236}">
                <a16:creationId xmlns:a16="http://schemas.microsoft.com/office/drawing/2014/main" id="{819F4933-D31D-A25E-4E21-7FE804D7BB30}"/>
              </a:ext>
            </a:extLst>
          </p:cNvPr>
          <p:cNvSpPr txBox="1"/>
          <p:nvPr/>
        </p:nvSpPr>
        <p:spPr>
          <a:xfrm>
            <a:off x="1371601" y="3809821"/>
            <a:ext cx="10617199" cy="1200329"/>
          </a:xfrm>
          <a:prstGeom prst="rect">
            <a:avLst/>
          </a:prstGeom>
          <a:noFill/>
        </p:spPr>
        <p:txBody>
          <a:bodyPr wrap="square" rtlCol="0">
            <a:spAutoFit/>
          </a:bodyPr>
          <a:lstStyle/>
          <a:p>
            <a:r>
              <a:rPr lang="en-IN" dirty="0"/>
              <a:t>This part of the circuit prevents contention between multiple requests</a:t>
            </a:r>
            <a:br>
              <a:rPr lang="en-IN" dirty="0"/>
            </a:br>
            <a:r>
              <a:rPr lang="en-IN" dirty="0"/>
              <a:t>If multiple requests occur at the same time it resolves simultaneous requests using positive feedback. Multiple neurons may request the communication bus at nearly the same time, the circuit ensures that only one request wins while all others wait until the next arbitration cycle </a:t>
            </a:r>
          </a:p>
        </p:txBody>
      </p:sp>
      <p:pic>
        <p:nvPicPr>
          <p:cNvPr id="8" name="Picture 7">
            <a:extLst>
              <a:ext uri="{FF2B5EF4-FFF2-40B4-BE49-F238E27FC236}">
                <a16:creationId xmlns:a16="http://schemas.microsoft.com/office/drawing/2014/main" id="{8CA6ED04-6344-7112-5659-BE28C7B163F8}"/>
              </a:ext>
            </a:extLst>
          </p:cNvPr>
          <p:cNvPicPr>
            <a:picLocks noChangeAspect="1"/>
          </p:cNvPicPr>
          <p:nvPr/>
        </p:nvPicPr>
        <p:blipFill>
          <a:blip r:embed="rId3"/>
          <a:stretch>
            <a:fillRect/>
          </a:stretch>
        </p:blipFill>
        <p:spPr>
          <a:xfrm>
            <a:off x="7177495" y="1320602"/>
            <a:ext cx="2781541" cy="2286198"/>
          </a:xfrm>
          <a:prstGeom prst="rect">
            <a:avLst/>
          </a:prstGeom>
        </p:spPr>
      </p:pic>
    </p:spTree>
    <p:extLst>
      <p:ext uri="{BB962C8B-B14F-4D97-AF65-F5344CB8AC3E}">
        <p14:creationId xmlns:p14="http://schemas.microsoft.com/office/powerpoint/2010/main" val="3781902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FEB365-A1AD-529A-0435-4CA341E3BC18}"/>
              </a:ext>
            </a:extLst>
          </p:cNvPr>
          <p:cNvPicPr>
            <a:picLocks noChangeAspect="1"/>
          </p:cNvPicPr>
          <p:nvPr/>
        </p:nvPicPr>
        <p:blipFill>
          <a:blip r:embed="rId2"/>
          <a:stretch>
            <a:fillRect/>
          </a:stretch>
        </p:blipFill>
        <p:spPr>
          <a:xfrm>
            <a:off x="1104467" y="251769"/>
            <a:ext cx="4991533" cy="2629128"/>
          </a:xfrm>
          <a:prstGeom prst="rect">
            <a:avLst/>
          </a:prstGeom>
        </p:spPr>
      </p:pic>
      <p:pic>
        <p:nvPicPr>
          <p:cNvPr id="9" name="Picture 8">
            <a:extLst>
              <a:ext uri="{FF2B5EF4-FFF2-40B4-BE49-F238E27FC236}">
                <a16:creationId xmlns:a16="http://schemas.microsoft.com/office/drawing/2014/main" id="{675E3741-BCC4-A41A-95A5-40373F03A615}"/>
              </a:ext>
            </a:extLst>
          </p:cNvPr>
          <p:cNvPicPr>
            <a:picLocks noChangeAspect="1"/>
          </p:cNvPicPr>
          <p:nvPr/>
        </p:nvPicPr>
        <p:blipFill>
          <a:blip r:embed="rId3"/>
          <a:stretch>
            <a:fillRect/>
          </a:stretch>
        </p:blipFill>
        <p:spPr>
          <a:xfrm>
            <a:off x="6366669" y="167103"/>
            <a:ext cx="5421216" cy="4650430"/>
          </a:xfrm>
          <a:prstGeom prst="rect">
            <a:avLst/>
          </a:prstGeom>
        </p:spPr>
      </p:pic>
    </p:spTree>
    <p:extLst>
      <p:ext uri="{BB962C8B-B14F-4D97-AF65-F5344CB8AC3E}">
        <p14:creationId xmlns:p14="http://schemas.microsoft.com/office/powerpoint/2010/main" val="21361539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D1BA6A4-0918-1FCF-D751-DFB6EB6307D6}"/>
              </a:ext>
            </a:extLst>
          </p:cNvPr>
          <p:cNvPicPr>
            <a:picLocks noChangeAspect="1"/>
          </p:cNvPicPr>
          <p:nvPr/>
        </p:nvPicPr>
        <p:blipFill>
          <a:blip r:embed="rId2"/>
          <a:stretch>
            <a:fillRect/>
          </a:stretch>
        </p:blipFill>
        <p:spPr>
          <a:xfrm>
            <a:off x="848485" y="224860"/>
            <a:ext cx="5543848" cy="5426145"/>
          </a:xfrm>
          <a:prstGeom prst="rect">
            <a:avLst/>
          </a:prstGeom>
        </p:spPr>
      </p:pic>
      <p:sp>
        <p:nvSpPr>
          <p:cNvPr id="9" name="TextBox 8">
            <a:extLst>
              <a:ext uri="{FF2B5EF4-FFF2-40B4-BE49-F238E27FC236}">
                <a16:creationId xmlns:a16="http://schemas.microsoft.com/office/drawing/2014/main" id="{B7BF4440-D724-6037-2C7D-DA8AACDCCEEE}"/>
              </a:ext>
            </a:extLst>
          </p:cNvPr>
          <p:cNvSpPr txBox="1"/>
          <p:nvPr/>
        </p:nvSpPr>
        <p:spPr>
          <a:xfrm>
            <a:off x="848485" y="5892801"/>
            <a:ext cx="4015073" cy="369332"/>
          </a:xfrm>
          <a:prstGeom prst="rect">
            <a:avLst/>
          </a:prstGeom>
          <a:noFill/>
        </p:spPr>
        <p:txBody>
          <a:bodyPr wrap="none" rtlCol="0">
            <a:spAutoFit/>
          </a:bodyPr>
          <a:lstStyle/>
          <a:p>
            <a:r>
              <a:rPr lang="en-IN" dirty="0"/>
              <a:t>Output of choosing and the steering </a:t>
            </a:r>
            <a:r>
              <a:rPr lang="en-IN" dirty="0" err="1"/>
              <a:t>ckt</a:t>
            </a:r>
            <a:endParaRPr lang="en-IN" dirty="0"/>
          </a:p>
        </p:txBody>
      </p:sp>
      <p:pic>
        <p:nvPicPr>
          <p:cNvPr id="11" name="Picture 10">
            <a:extLst>
              <a:ext uri="{FF2B5EF4-FFF2-40B4-BE49-F238E27FC236}">
                <a16:creationId xmlns:a16="http://schemas.microsoft.com/office/drawing/2014/main" id="{7739135F-5D62-0F57-D013-2E809DC3DC5B}"/>
              </a:ext>
            </a:extLst>
          </p:cNvPr>
          <p:cNvPicPr>
            <a:picLocks noChangeAspect="1"/>
          </p:cNvPicPr>
          <p:nvPr/>
        </p:nvPicPr>
        <p:blipFill>
          <a:blip r:embed="rId3"/>
          <a:stretch>
            <a:fillRect/>
          </a:stretch>
        </p:blipFill>
        <p:spPr>
          <a:xfrm>
            <a:off x="7432290" y="641602"/>
            <a:ext cx="4016088" cy="3932261"/>
          </a:xfrm>
          <a:prstGeom prst="rect">
            <a:avLst/>
          </a:prstGeom>
        </p:spPr>
      </p:pic>
    </p:spTree>
    <p:extLst>
      <p:ext uri="{BB962C8B-B14F-4D97-AF65-F5344CB8AC3E}">
        <p14:creationId xmlns:p14="http://schemas.microsoft.com/office/powerpoint/2010/main" val="4187227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FA9237A-F67C-E9C2-3BBB-3695A412486C}"/>
              </a:ext>
            </a:extLst>
          </p:cNvPr>
          <p:cNvSpPr txBox="1"/>
          <p:nvPr/>
        </p:nvSpPr>
        <p:spPr>
          <a:xfrm>
            <a:off x="4649931" y="0"/>
            <a:ext cx="2892138" cy="523220"/>
          </a:xfrm>
          <a:prstGeom prst="rect">
            <a:avLst/>
          </a:prstGeom>
          <a:noFill/>
        </p:spPr>
        <p:txBody>
          <a:bodyPr wrap="none" rtlCol="0">
            <a:spAutoFit/>
          </a:bodyPr>
          <a:lstStyle/>
          <a:p>
            <a:r>
              <a:rPr lang="en-IN" sz="2800" dirty="0"/>
              <a:t>2 INPUT ARBITER </a:t>
            </a:r>
          </a:p>
        </p:txBody>
      </p:sp>
      <p:pic>
        <p:nvPicPr>
          <p:cNvPr id="6" name="Picture 5">
            <a:extLst>
              <a:ext uri="{FF2B5EF4-FFF2-40B4-BE49-F238E27FC236}">
                <a16:creationId xmlns:a16="http://schemas.microsoft.com/office/drawing/2014/main" id="{15795386-A235-3E03-BDD5-0A3AEDD368A2}"/>
              </a:ext>
            </a:extLst>
          </p:cNvPr>
          <p:cNvPicPr>
            <a:picLocks noChangeAspect="1"/>
          </p:cNvPicPr>
          <p:nvPr/>
        </p:nvPicPr>
        <p:blipFill>
          <a:blip r:embed="rId2"/>
          <a:stretch>
            <a:fillRect/>
          </a:stretch>
        </p:blipFill>
        <p:spPr>
          <a:xfrm>
            <a:off x="1305955" y="523220"/>
            <a:ext cx="10409822" cy="6119390"/>
          </a:xfrm>
          <a:prstGeom prst="rect">
            <a:avLst/>
          </a:prstGeom>
        </p:spPr>
      </p:pic>
    </p:spTree>
    <p:extLst>
      <p:ext uri="{BB962C8B-B14F-4D97-AF65-F5344CB8AC3E}">
        <p14:creationId xmlns:p14="http://schemas.microsoft.com/office/powerpoint/2010/main" val="2080637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20289-A9FD-E7BE-E060-1EDDFD267293}"/>
              </a:ext>
            </a:extLst>
          </p:cNvPr>
          <p:cNvSpPr>
            <a:spLocks noGrp="1"/>
          </p:cNvSpPr>
          <p:nvPr>
            <p:ph type="title"/>
          </p:nvPr>
        </p:nvSpPr>
        <p:spPr>
          <a:xfrm>
            <a:off x="1371600" y="685800"/>
            <a:ext cx="8331200" cy="601133"/>
          </a:xfrm>
        </p:spPr>
        <p:txBody>
          <a:bodyPr>
            <a:normAutofit/>
          </a:bodyPr>
          <a:lstStyle/>
          <a:p>
            <a:r>
              <a:rPr lang="en-IN" sz="2800" dirty="0"/>
              <a:t>Arbiter structures for multiple inputs</a:t>
            </a:r>
          </a:p>
        </p:txBody>
      </p:sp>
      <p:pic>
        <p:nvPicPr>
          <p:cNvPr id="5" name="Content Placeholder 4">
            <a:extLst>
              <a:ext uri="{FF2B5EF4-FFF2-40B4-BE49-F238E27FC236}">
                <a16:creationId xmlns:a16="http://schemas.microsoft.com/office/drawing/2014/main" id="{D884D5C7-4018-2E9D-7095-F1436E8D8426}"/>
              </a:ext>
            </a:extLst>
          </p:cNvPr>
          <p:cNvPicPr>
            <a:picLocks noGrp="1" noChangeAspect="1"/>
          </p:cNvPicPr>
          <p:nvPr>
            <p:ph idx="1"/>
          </p:nvPr>
        </p:nvPicPr>
        <p:blipFill>
          <a:blip r:embed="rId2"/>
          <a:stretch>
            <a:fillRect/>
          </a:stretch>
        </p:blipFill>
        <p:spPr>
          <a:xfrm>
            <a:off x="1371600" y="1164434"/>
            <a:ext cx="6756400" cy="3080605"/>
          </a:xfrm>
          <a:prstGeom prst="rect">
            <a:avLst/>
          </a:prstGeom>
        </p:spPr>
      </p:pic>
      <p:sp>
        <p:nvSpPr>
          <p:cNvPr id="6" name="TextBox 5">
            <a:extLst>
              <a:ext uri="{FF2B5EF4-FFF2-40B4-BE49-F238E27FC236}">
                <a16:creationId xmlns:a16="http://schemas.microsoft.com/office/drawing/2014/main" id="{88A5C23C-866D-575C-5E77-7BDD66C5E0A9}"/>
              </a:ext>
            </a:extLst>
          </p:cNvPr>
          <p:cNvSpPr txBox="1"/>
          <p:nvPr/>
        </p:nvSpPr>
        <p:spPr>
          <a:xfrm>
            <a:off x="1564503" y="4539007"/>
            <a:ext cx="7345472" cy="923330"/>
          </a:xfrm>
          <a:prstGeom prst="rect">
            <a:avLst/>
          </a:prstGeom>
          <a:noFill/>
        </p:spPr>
        <p:txBody>
          <a:bodyPr wrap="none" rtlCol="0">
            <a:spAutoFit/>
          </a:bodyPr>
          <a:lstStyle/>
          <a:p>
            <a:r>
              <a:rPr lang="en-IN" dirty="0"/>
              <a:t>Here we implemented the binary tree structure as </a:t>
            </a:r>
            <a:br>
              <a:rPr lang="en-IN" dirty="0"/>
            </a:br>
            <a:r>
              <a:rPr lang="en-IN" dirty="0"/>
              <a:t>Uses only small, identical 2-input arbiter cells, making the design modular</a:t>
            </a:r>
          </a:p>
          <a:p>
            <a:r>
              <a:rPr lang="en-IN" dirty="0"/>
              <a:t>Scales naturally to larger arrays by adding more levels to the tree</a:t>
            </a:r>
          </a:p>
        </p:txBody>
      </p:sp>
    </p:spTree>
    <p:extLst>
      <p:ext uri="{BB962C8B-B14F-4D97-AF65-F5344CB8AC3E}">
        <p14:creationId xmlns:p14="http://schemas.microsoft.com/office/powerpoint/2010/main" val="2475032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5F60C7-9F92-4330-5E5E-DDD28D9DC142}"/>
              </a:ext>
            </a:extLst>
          </p:cNvPr>
          <p:cNvPicPr>
            <a:picLocks noChangeAspect="1"/>
          </p:cNvPicPr>
          <p:nvPr/>
        </p:nvPicPr>
        <p:blipFill>
          <a:blip r:embed="rId2"/>
          <a:stretch>
            <a:fillRect/>
          </a:stretch>
        </p:blipFill>
        <p:spPr>
          <a:xfrm>
            <a:off x="3228481" y="152268"/>
            <a:ext cx="6017119" cy="2808457"/>
          </a:xfrm>
          <a:prstGeom prst="rect">
            <a:avLst/>
          </a:prstGeom>
        </p:spPr>
      </p:pic>
      <p:sp>
        <p:nvSpPr>
          <p:cNvPr id="6" name="TextBox 5">
            <a:extLst>
              <a:ext uri="{FF2B5EF4-FFF2-40B4-BE49-F238E27FC236}">
                <a16:creationId xmlns:a16="http://schemas.microsoft.com/office/drawing/2014/main" id="{8B3699FF-E5D5-CB0B-DF3D-FB3AD7651E4E}"/>
              </a:ext>
            </a:extLst>
          </p:cNvPr>
          <p:cNvSpPr txBox="1"/>
          <p:nvPr/>
        </p:nvSpPr>
        <p:spPr>
          <a:xfrm>
            <a:off x="1092200" y="3268134"/>
            <a:ext cx="9217297" cy="2308324"/>
          </a:xfrm>
          <a:prstGeom prst="rect">
            <a:avLst/>
          </a:prstGeom>
          <a:noFill/>
        </p:spPr>
        <p:txBody>
          <a:bodyPr wrap="square" rtlCol="0">
            <a:spAutoFit/>
          </a:bodyPr>
          <a:lstStyle/>
          <a:p>
            <a:r>
              <a:rPr lang="en-IN" dirty="0"/>
              <a:t>The Arbiter is a binary tree of two-input arbitration cells. Each cell receives two requests from below and an Acknowledge from above. It transmits a request to the higher level of the tree and passes down two Acknowledge signals</a:t>
            </a:r>
          </a:p>
          <a:p>
            <a:r>
              <a:rPr lang="en-IN" dirty="0"/>
              <a:t>The total delay through the Arbiter is proportional to log(N)</a:t>
            </a:r>
            <a:br>
              <a:rPr lang="en-IN" dirty="0"/>
            </a:br>
            <a:r>
              <a:rPr lang="en-IN" dirty="0"/>
              <a:t>Forward phase of the data transfer cycle, the requests propagate from the lowest level of the tree to the top then the select propagates from the top to the bottom of the tree</a:t>
            </a:r>
          </a:p>
          <a:p>
            <a:r>
              <a:rPr lang="en-IN" dirty="0"/>
              <a:t>When the select propagates back to the bottom level of the tree, the selected neuron address is placed on the data bus</a:t>
            </a:r>
          </a:p>
        </p:txBody>
      </p:sp>
    </p:spTree>
    <p:extLst>
      <p:ext uri="{BB962C8B-B14F-4D97-AF65-F5344CB8AC3E}">
        <p14:creationId xmlns:p14="http://schemas.microsoft.com/office/powerpoint/2010/main" val="31917658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04DF3C0-8718-4316-1BD5-C80D4E7AC240}"/>
              </a:ext>
            </a:extLst>
          </p:cNvPr>
          <p:cNvPicPr>
            <a:picLocks noChangeAspect="1"/>
          </p:cNvPicPr>
          <p:nvPr/>
        </p:nvPicPr>
        <p:blipFill>
          <a:blip r:embed="rId2"/>
          <a:stretch>
            <a:fillRect/>
          </a:stretch>
        </p:blipFill>
        <p:spPr>
          <a:xfrm>
            <a:off x="6875251" y="1975185"/>
            <a:ext cx="4891594" cy="2907629"/>
          </a:xfrm>
          <a:prstGeom prst="rect">
            <a:avLst/>
          </a:prstGeom>
        </p:spPr>
      </p:pic>
      <p:pic>
        <p:nvPicPr>
          <p:cNvPr id="7" name="Picture 6">
            <a:extLst>
              <a:ext uri="{FF2B5EF4-FFF2-40B4-BE49-F238E27FC236}">
                <a16:creationId xmlns:a16="http://schemas.microsoft.com/office/drawing/2014/main" id="{907A9A06-FE95-C1BA-05E9-17945E1D5211}"/>
              </a:ext>
            </a:extLst>
          </p:cNvPr>
          <p:cNvPicPr>
            <a:picLocks noChangeAspect="1"/>
          </p:cNvPicPr>
          <p:nvPr/>
        </p:nvPicPr>
        <p:blipFill>
          <a:blip r:embed="rId3"/>
          <a:stretch>
            <a:fillRect/>
          </a:stretch>
        </p:blipFill>
        <p:spPr>
          <a:xfrm>
            <a:off x="966043" y="660983"/>
            <a:ext cx="5790357" cy="5864198"/>
          </a:xfrm>
          <a:prstGeom prst="rect">
            <a:avLst/>
          </a:prstGeom>
        </p:spPr>
      </p:pic>
    </p:spTree>
    <p:extLst>
      <p:ext uri="{BB962C8B-B14F-4D97-AF65-F5344CB8AC3E}">
        <p14:creationId xmlns:p14="http://schemas.microsoft.com/office/powerpoint/2010/main" val="29436188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73009-5036-52DC-0F94-1A101117296B}"/>
              </a:ext>
            </a:extLst>
          </p:cNvPr>
          <p:cNvSpPr>
            <a:spLocks noGrp="1"/>
          </p:cNvSpPr>
          <p:nvPr>
            <p:ph type="title"/>
          </p:nvPr>
        </p:nvSpPr>
        <p:spPr>
          <a:xfrm>
            <a:off x="1371600" y="685800"/>
            <a:ext cx="8703733" cy="685800"/>
          </a:xfrm>
        </p:spPr>
        <p:txBody>
          <a:bodyPr>
            <a:normAutofit/>
          </a:bodyPr>
          <a:lstStyle/>
          <a:p>
            <a:r>
              <a:rPr lang="en-IN" sz="2800" dirty="0"/>
              <a:t>Signal generation </a:t>
            </a:r>
          </a:p>
        </p:txBody>
      </p:sp>
      <p:pic>
        <p:nvPicPr>
          <p:cNvPr id="5" name="Picture 4">
            <a:extLst>
              <a:ext uri="{FF2B5EF4-FFF2-40B4-BE49-F238E27FC236}">
                <a16:creationId xmlns:a16="http://schemas.microsoft.com/office/drawing/2014/main" id="{76488A9E-9224-72BF-5524-3FA5AAE3EBEA}"/>
              </a:ext>
            </a:extLst>
          </p:cNvPr>
          <p:cNvPicPr>
            <a:picLocks noChangeAspect="1"/>
          </p:cNvPicPr>
          <p:nvPr/>
        </p:nvPicPr>
        <p:blipFill>
          <a:blip r:embed="rId2"/>
          <a:stretch>
            <a:fillRect/>
          </a:stretch>
        </p:blipFill>
        <p:spPr>
          <a:xfrm>
            <a:off x="2463799" y="3777409"/>
            <a:ext cx="3259667" cy="2991707"/>
          </a:xfrm>
          <a:prstGeom prst="rect">
            <a:avLst/>
          </a:prstGeom>
        </p:spPr>
      </p:pic>
      <p:sp>
        <p:nvSpPr>
          <p:cNvPr id="6" name="TextBox 5">
            <a:extLst>
              <a:ext uri="{FF2B5EF4-FFF2-40B4-BE49-F238E27FC236}">
                <a16:creationId xmlns:a16="http://schemas.microsoft.com/office/drawing/2014/main" id="{0070A0A6-4163-1F80-D665-FFBB6BE80585}"/>
              </a:ext>
            </a:extLst>
          </p:cNvPr>
          <p:cNvSpPr txBox="1"/>
          <p:nvPr/>
        </p:nvSpPr>
        <p:spPr>
          <a:xfrm>
            <a:off x="1371601" y="1270000"/>
            <a:ext cx="4724400" cy="1477328"/>
          </a:xfrm>
          <a:prstGeom prst="rect">
            <a:avLst/>
          </a:prstGeom>
          <a:noFill/>
        </p:spPr>
        <p:txBody>
          <a:bodyPr wrap="square" rtlCol="0">
            <a:spAutoFit/>
          </a:bodyPr>
          <a:lstStyle/>
          <a:p>
            <a:r>
              <a:rPr lang="en-IN" dirty="0"/>
              <a:t>Input is generated by a comparator and the resulting pulse is stored in a capacitor before being sent to arbiter.</a:t>
            </a:r>
          </a:p>
          <a:p>
            <a:r>
              <a:rPr lang="en-IN" dirty="0"/>
              <a:t>Once the pixel address is transmitted the ack signal is generated which resets the pixel </a:t>
            </a:r>
          </a:p>
        </p:txBody>
      </p:sp>
      <p:pic>
        <p:nvPicPr>
          <p:cNvPr id="8" name="Picture 7">
            <a:extLst>
              <a:ext uri="{FF2B5EF4-FFF2-40B4-BE49-F238E27FC236}">
                <a16:creationId xmlns:a16="http://schemas.microsoft.com/office/drawing/2014/main" id="{CB04EB03-21AD-DD1D-E898-27935DCB8515}"/>
              </a:ext>
            </a:extLst>
          </p:cNvPr>
          <p:cNvPicPr>
            <a:picLocks noChangeAspect="1"/>
          </p:cNvPicPr>
          <p:nvPr/>
        </p:nvPicPr>
        <p:blipFill>
          <a:blip r:embed="rId3"/>
          <a:stretch>
            <a:fillRect/>
          </a:stretch>
        </p:blipFill>
        <p:spPr>
          <a:xfrm>
            <a:off x="6680200" y="188285"/>
            <a:ext cx="5214216" cy="5264247"/>
          </a:xfrm>
          <a:prstGeom prst="rect">
            <a:avLst/>
          </a:prstGeom>
        </p:spPr>
      </p:pic>
    </p:spTree>
    <p:extLst>
      <p:ext uri="{BB962C8B-B14F-4D97-AF65-F5344CB8AC3E}">
        <p14:creationId xmlns:p14="http://schemas.microsoft.com/office/powerpoint/2010/main" val="1689993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7A33F-49F9-5E37-BD79-7756BA39C000}"/>
              </a:ext>
            </a:extLst>
          </p:cNvPr>
          <p:cNvSpPr>
            <a:spLocks noGrp="1"/>
          </p:cNvSpPr>
          <p:nvPr>
            <p:ph type="title"/>
          </p:nvPr>
        </p:nvSpPr>
        <p:spPr>
          <a:xfrm>
            <a:off x="1371600" y="685800"/>
            <a:ext cx="8881533" cy="558800"/>
          </a:xfrm>
        </p:spPr>
        <p:txBody>
          <a:bodyPr>
            <a:normAutofit/>
          </a:bodyPr>
          <a:lstStyle/>
          <a:p>
            <a:r>
              <a:rPr lang="en-IN" sz="2800" dirty="0"/>
              <a:t>Array readout (In progress) </a:t>
            </a:r>
          </a:p>
        </p:txBody>
      </p:sp>
      <p:sp>
        <p:nvSpPr>
          <p:cNvPr id="4" name="TextBox 3">
            <a:extLst>
              <a:ext uri="{FF2B5EF4-FFF2-40B4-BE49-F238E27FC236}">
                <a16:creationId xmlns:a16="http://schemas.microsoft.com/office/drawing/2014/main" id="{7F009065-204B-C4FB-E472-FFB0F90728AE}"/>
              </a:ext>
            </a:extLst>
          </p:cNvPr>
          <p:cNvSpPr txBox="1"/>
          <p:nvPr/>
        </p:nvSpPr>
        <p:spPr>
          <a:xfrm>
            <a:off x="1278468" y="1244600"/>
            <a:ext cx="10727266" cy="2416046"/>
          </a:xfrm>
          <a:prstGeom prst="rect">
            <a:avLst/>
          </a:prstGeom>
          <a:noFill/>
        </p:spPr>
        <p:txBody>
          <a:bodyPr wrap="square" rtlCol="0">
            <a:spAutoFit/>
          </a:bodyPr>
          <a:lstStyle/>
          <a:p>
            <a:pPr>
              <a:defRPr sz="1900"/>
            </a:pPr>
            <a:r>
              <a:rPr lang="en-US" dirty="0"/>
              <a:t>Pixels arranged in rows and columns.</a:t>
            </a:r>
          </a:p>
          <a:p>
            <a:pPr>
              <a:defRPr sz="1900"/>
            </a:pPr>
            <a:r>
              <a:rPr lang="en-US" dirty="0"/>
              <a:t>Vertical arbiter selects a row.</a:t>
            </a:r>
          </a:p>
          <a:p>
            <a:pPr>
              <a:defRPr sz="1900"/>
            </a:pPr>
            <a:r>
              <a:rPr lang="en-US" dirty="0"/>
              <a:t>Horizontal arbiter selects a column within that row.</a:t>
            </a:r>
          </a:p>
          <a:p>
            <a:pPr>
              <a:defRPr sz="1900"/>
            </a:pPr>
            <a:r>
              <a:rPr lang="en-US" dirty="0"/>
              <a:t>(Row, Column) uniquely identifies the active neuron.</a:t>
            </a:r>
          </a:p>
          <a:p>
            <a:pPr>
              <a:defRPr sz="1900"/>
            </a:pPr>
            <a:r>
              <a:rPr lang="en-US" dirty="0"/>
              <a:t>The address of the selected pixel is transmitted and the ack signal is generated </a:t>
            </a:r>
          </a:p>
          <a:p>
            <a:pPr>
              <a:defRPr sz="1900"/>
            </a:pPr>
            <a:r>
              <a:rPr lang="en-US" dirty="0"/>
              <a:t>So far the arbiter is able to identify the pixel that generates the pulse but the address generation and the generation of ACK reset of that pixel has not been completed</a:t>
            </a:r>
          </a:p>
          <a:p>
            <a:endParaRPr lang="en-IN" dirty="0"/>
          </a:p>
        </p:txBody>
      </p:sp>
      <p:pic>
        <p:nvPicPr>
          <p:cNvPr id="7" name="Picture 6">
            <a:extLst>
              <a:ext uri="{FF2B5EF4-FFF2-40B4-BE49-F238E27FC236}">
                <a16:creationId xmlns:a16="http://schemas.microsoft.com/office/drawing/2014/main" id="{6C5E9DD1-67CC-81F3-83B3-0BA29454C4BC}"/>
              </a:ext>
            </a:extLst>
          </p:cNvPr>
          <p:cNvPicPr>
            <a:picLocks noChangeAspect="1"/>
          </p:cNvPicPr>
          <p:nvPr/>
        </p:nvPicPr>
        <p:blipFill>
          <a:blip r:embed="rId2"/>
          <a:srcRect l="3615" t="562" r="7252" b="-562"/>
          <a:stretch>
            <a:fillRect/>
          </a:stretch>
        </p:blipFill>
        <p:spPr>
          <a:xfrm rot="16200000">
            <a:off x="7654736" y="3003648"/>
            <a:ext cx="2847333" cy="4161329"/>
          </a:xfrm>
          <a:prstGeom prst="rect">
            <a:avLst/>
          </a:prstGeom>
        </p:spPr>
      </p:pic>
      <p:pic>
        <p:nvPicPr>
          <p:cNvPr id="9" name="Picture 8">
            <a:extLst>
              <a:ext uri="{FF2B5EF4-FFF2-40B4-BE49-F238E27FC236}">
                <a16:creationId xmlns:a16="http://schemas.microsoft.com/office/drawing/2014/main" id="{4AC2E54D-9D97-3613-3C88-968A026E67FF}"/>
              </a:ext>
            </a:extLst>
          </p:cNvPr>
          <p:cNvPicPr>
            <a:picLocks noChangeAspect="1"/>
          </p:cNvPicPr>
          <p:nvPr/>
        </p:nvPicPr>
        <p:blipFill>
          <a:blip r:embed="rId3"/>
          <a:stretch>
            <a:fillRect/>
          </a:stretch>
        </p:blipFill>
        <p:spPr>
          <a:xfrm>
            <a:off x="2168422" y="3526336"/>
            <a:ext cx="4161329" cy="3115954"/>
          </a:xfrm>
          <a:prstGeom prst="rect">
            <a:avLst/>
          </a:prstGeom>
        </p:spPr>
      </p:pic>
    </p:spTree>
    <p:extLst>
      <p:ext uri="{BB962C8B-B14F-4D97-AF65-F5344CB8AC3E}">
        <p14:creationId xmlns:p14="http://schemas.microsoft.com/office/powerpoint/2010/main" val="2651402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FA8FE9B-92CE-243B-7884-C2D6D66D2D5E}"/>
              </a:ext>
            </a:extLst>
          </p:cNvPr>
          <p:cNvPicPr>
            <a:picLocks noChangeAspect="1"/>
          </p:cNvPicPr>
          <p:nvPr/>
        </p:nvPicPr>
        <p:blipFill>
          <a:blip r:embed="rId2"/>
          <a:stretch>
            <a:fillRect/>
          </a:stretch>
        </p:blipFill>
        <p:spPr>
          <a:xfrm>
            <a:off x="7569201" y="1311616"/>
            <a:ext cx="4512733" cy="4013917"/>
          </a:xfrm>
          <a:prstGeom prst="rect">
            <a:avLst/>
          </a:prstGeom>
        </p:spPr>
      </p:pic>
      <p:pic>
        <p:nvPicPr>
          <p:cNvPr id="11" name="Picture 10">
            <a:extLst>
              <a:ext uri="{FF2B5EF4-FFF2-40B4-BE49-F238E27FC236}">
                <a16:creationId xmlns:a16="http://schemas.microsoft.com/office/drawing/2014/main" id="{759F9E0E-9D34-0290-1AF5-88C78C3F57CF}"/>
              </a:ext>
            </a:extLst>
          </p:cNvPr>
          <p:cNvPicPr>
            <a:picLocks noChangeAspect="1"/>
          </p:cNvPicPr>
          <p:nvPr/>
        </p:nvPicPr>
        <p:blipFill>
          <a:blip r:embed="rId3"/>
          <a:stretch>
            <a:fillRect/>
          </a:stretch>
        </p:blipFill>
        <p:spPr>
          <a:xfrm>
            <a:off x="377830" y="1829957"/>
            <a:ext cx="3547533" cy="3435152"/>
          </a:xfrm>
          <a:prstGeom prst="rect">
            <a:avLst/>
          </a:prstGeom>
        </p:spPr>
      </p:pic>
      <p:pic>
        <p:nvPicPr>
          <p:cNvPr id="13" name="Picture 12">
            <a:extLst>
              <a:ext uri="{FF2B5EF4-FFF2-40B4-BE49-F238E27FC236}">
                <a16:creationId xmlns:a16="http://schemas.microsoft.com/office/drawing/2014/main" id="{F526EEA4-0382-C9BC-C315-B6B73315C62D}"/>
              </a:ext>
            </a:extLst>
          </p:cNvPr>
          <p:cNvPicPr>
            <a:picLocks noChangeAspect="1"/>
          </p:cNvPicPr>
          <p:nvPr/>
        </p:nvPicPr>
        <p:blipFill>
          <a:blip r:embed="rId4"/>
          <a:stretch>
            <a:fillRect/>
          </a:stretch>
        </p:blipFill>
        <p:spPr>
          <a:xfrm>
            <a:off x="3925363" y="312549"/>
            <a:ext cx="3547533" cy="3547533"/>
          </a:xfrm>
          <a:prstGeom prst="rect">
            <a:avLst/>
          </a:prstGeom>
        </p:spPr>
      </p:pic>
      <p:sp>
        <p:nvSpPr>
          <p:cNvPr id="14" name="TextBox 13">
            <a:extLst>
              <a:ext uri="{FF2B5EF4-FFF2-40B4-BE49-F238E27FC236}">
                <a16:creationId xmlns:a16="http://schemas.microsoft.com/office/drawing/2014/main" id="{8A2C98CD-354B-BE21-9197-5EBC2F64B662}"/>
              </a:ext>
            </a:extLst>
          </p:cNvPr>
          <p:cNvSpPr txBox="1"/>
          <p:nvPr/>
        </p:nvSpPr>
        <p:spPr>
          <a:xfrm>
            <a:off x="1278760" y="5325533"/>
            <a:ext cx="1745671" cy="369332"/>
          </a:xfrm>
          <a:prstGeom prst="rect">
            <a:avLst/>
          </a:prstGeom>
          <a:noFill/>
        </p:spPr>
        <p:txBody>
          <a:bodyPr wrap="none" rtlCol="0">
            <a:spAutoFit/>
          </a:bodyPr>
          <a:lstStyle/>
          <a:p>
            <a:r>
              <a:rPr lang="en-IN" dirty="0"/>
              <a:t>Row select lines</a:t>
            </a:r>
          </a:p>
        </p:txBody>
      </p:sp>
      <p:sp>
        <p:nvSpPr>
          <p:cNvPr id="15" name="TextBox 14">
            <a:extLst>
              <a:ext uri="{FF2B5EF4-FFF2-40B4-BE49-F238E27FC236}">
                <a16:creationId xmlns:a16="http://schemas.microsoft.com/office/drawing/2014/main" id="{169F14A6-C31C-6264-FB31-C7C478FDC456}"/>
              </a:ext>
            </a:extLst>
          </p:cNvPr>
          <p:cNvSpPr txBox="1"/>
          <p:nvPr/>
        </p:nvSpPr>
        <p:spPr>
          <a:xfrm>
            <a:off x="4925582" y="3860082"/>
            <a:ext cx="1643399" cy="369332"/>
          </a:xfrm>
          <a:prstGeom prst="rect">
            <a:avLst/>
          </a:prstGeom>
          <a:noFill/>
        </p:spPr>
        <p:txBody>
          <a:bodyPr wrap="none" rtlCol="0">
            <a:spAutoFit/>
          </a:bodyPr>
          <a:lstStyle/>
          <a:p>
            <a:r>
              <a:rPr lang="en-IN" dirty="0"/>
              <a:t>Col select lines</a:t>
            </a:r>
          </a:p>
        </p:txBody>
      </p:sp>
    </p:spTree>
    <p:extLst>
      <p:ext uri="{BB962C8B-B14F-4D97-AF65-F5344CB8AC3E}">
        <p14:creationId xmlns:p14="http://schemas.microsoft.com/office/powerpoint/2010/main" val="40419538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B05B2-71FA-05EF-D251-05D6BA0D82E2}"/>
              </a:ext>
            </a:extLst>
          </p:cNvPr>
          <p:cNvSpPr>
            <a:spLocks noGrp="1"/>
          </p:cNvSpPr>
          <p:nvPr>
            <p:ph type="title"/>
          </p:nvPr>
        </p:nvSpPr>
        <p:spPr>
          <a:xfrm>
            <a:off x="1371600" y="685800"/>
            <a:ext cx="7340600" cy="533400"/>
          </a:xfrm>
        </p:spPr>
        <p:txBody>
          <a:bodyPr>
            <a:normAutofit/>
          </a:bodyPr>
          <a:lstStyle/>
          <a:p>
            <a:pPr marL="457200" indent="-457200">
              <a:buFont typeface="Wingdings" panose="05000000000000000000" pitchFamily="2" charset="2"/>
              <a:buChar char="q"/>
            </a:pPr>
            <a:r>
              <a:rPr lang="en-IN" sz="2800" dirty="0"/>
              <a:t>Current progress</a:t>
            </a:r>
          </a:p>
        </p:txBody>
      </p:sp>
      <p:sp>
        <p:nvSpPr>
          <p:cNvPr id="3" name="Content Placeholder 2">
            <a:extLst>
              <a:ext uri="{FF2B5EF4-FFF2-40B4-BE49-F238E27FC236}">
                <a16:creationId xmlns:a16="http://schemas.microsoft.com/office/drawing/2014/main" id="{701A8EF1-3530-3643-F323-F81254C2F454}"/>
              </a:ext>
            </a:extLst>
          </p:cNvPr>
          <p:cNvSpPr>
            <a:spLocks noGrp="1"/>
          </p:cNvSpPr>
          <p:nvPr>
            <p:ph idx="1"/>
          </p:nvPr>
        </p:nvSpPr>
        <p:spPr>
          <a:xfrm>
            <a:off x="1371600" y="1219200"/>
            <a:ext cx="9601200" cy="3581400"/>
          </a:xfrm>
        </p:spPr>
        <p:txBody>
          <a:bodyPr/>
          <a:lstStyle/>
          <a:p>
            <a:pPr>
              <a:defRPr sz="1900"/>
            </a:pPr>
            <a:r>
              <a:rPr lang="en-IN" dirty="0"/>
              <a:t>Literature Review </a:t>
            </a:r>
          </a:p>
          <a:p>
            <a:pPr>
              <a:defRPr sz="1900"/>
            </a:pPr>
            <a:r>
              <a:rPr lang="en-IN" dirty="0"/>
              <a:t>Pixel circuit</a:t>
            </a:r>
          </a:p>
          <a:p>
            <a:pPr>
              <a:defRPr sz="1900"/>
            </a:pPr>
            <a:r>
              <a:rPr lang="en-IN" dirty="0"/>
              <a:t>2-input arbiter</a:t>
            </a:r>
          </a:p>
          <a:p>
            <a:pPr>
              <a:defRPr sz="1900"/>
            </a:pPr>
            <a:r>
              <a:rPr lang="en-IN" dirty="0"/>
              <a:t>Arbiter tree</a:t>
            </a:r>
          </a:p>
          <a:p>
            <a:pPr>
              <a:defRPr sz="1900"/>
            </a:pPr>
            <a:r>
              <a:rPr lang="en-IN" dirty="0"/>
              <a:t>Integration of row and col arbiter to 3*3 sensor array</a:t>
            </a:r>
          </a:p>
          <a:p>
            <a:pPr>
              <a:buFont typeface="Wingdings" panose="05000000000000000000" pitchFamily="2" charset="2"/>
              <a:buChar char="q"/>
            </a:pPr>
            <a:r>
              <a:rPr lang="en-IN" dirty="0"/>
              <a:t>To Do</a:t>
            </a:r>
          </a:p>
          <a:p>
            <a:pPr>
              <a:buFont typeface="Wingdings" panose="05000000000000000000" pitchFamily="2" charset="2"/>
              <a:buChar char="§"/>
            </a:pPr>
            <a:r>
              <a:rPr lang="en-IN" dirty="0"/>
              <a:t>Address generation </a:t>
            </a:r>
          </a:p>
          <a:p>
            <a:pPr>
              <a:buFont typeface="Wingdings" panose="05000000000000000000" pitchFamily="2" charset="2"/>
              <a:buChar char="§"/>
            </a:pPr>
            <a:r>
              <a:rPr lang="en-IN" dirty="0"/>
              <a:t>Ack signal generation and reset circuit </a:t>
            </a:r>
          </a:p>
        </p:txBody>
      </p:sp>
    </p:spTree>
    <p:extLst>
      <p:ext uri="{BB962C8B-B14F-4D97-AF65-F5344CB8AC3E}">
        <p14:creationId xmlns:p14="http://schemas.microsoft.com/office/powerpoint/2010/main" val="2844310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010D8-5FD9-D2C3-D0A9-112138744396}"/>
              </a:ext>
            </a:extLst>
          </p:cNvPr>
          <p:cNvSpPr>
            <a:spLocks noGrp="1"/>
          </p:cNvSpPr>
          <p:nvPr>
            <p:ph type="title"/>
          </p:nvPr>
        </p:nvSpPr>
        <p:spPr>
          <a:xfrm>
            <a:off x="1371600" y="685800"/>
            <a:ext cx="8949267" cy="702733"/>
          </a:xfrm>
        </p:spPr>
        <p:txBody>
          <a:bodyPr>
            <a:normAutofit/>
          </a:bodyPr>
          <a:lstStyle/>
          <a:p>
            <a:r>
              <a:rPr lang="en-IN" sz="2800" dirty="0"/>
              <a:t>References </a:t>
            </a:r>
          </a:p>
        </p:txBody>
      </p:sp>
      <p:sp>
        <p:nvSpPr>
          <p:cNvPr id="3" name="Content Placeholder 2">
            <a:extLst>
              <a:ext uri="{FF2B5EF4-FFF2-40B4-BE49-F238E27FC236}">
                <a16:creationId xmlns:a16="http://schemas.microsoft.com/office/drawing/2014/main" id="{3A06C9CD-56D4-18CA-ADE1-5E0BC672F398}"/>
              </a:ext>
            </a:extLst>
          </p:cNvPr>
          <p:cNvSpPr>
            <a:spLocks noGrp="1"/>
          </p:cNvSpPr>
          <p:nvPr>
            <p:ph idx="1"/>
          </p:nvPr>
        </p:nvSpPr>
        <p:spPr>
          <a:xfrm>
            <a:off x="1371600" y="1270000"/>
            <a:ext cx="9601200" cy="4597400"/>
          </a:xfrm>
        </p:spPr>
        <p:txBody>
          <a:bodyPr/>
          <a:lstStyle/>
          <a:p>
            <a:r>
              <a:rPr lang="en-IN" dirty="0"/>
              <a:t>VLSI </a:t>
            </a:r>
            <a:r>
              <a:rPr lang="en-IN" dirty="0" err="1"/>
              <a:t>Analogs</a:t>
            </a:r>
            <a:r>
              <a:rPr lang="en-IN" dirty="0"/>
              <a:t> of Neuronal Visual Processing: A Synthesis of Form and Function - Misha Mahowald</a:t>
            </a:r>
          </a:p>
          <a:p>
            <a:r>
              <a:rPr lang="en-IN" dirty="0"/>
              <a:t>Point-to-Point Connectivity Between Neuromorphic Chips using Address-Events -</a:t>
            </a:r>
            <a:br>
              <a:rPr lang="en-IN" dirty="0"/>
            </a:br>
            <a:r>
              <a:rPr lang="en-IN" dirty="0"/>
              <a:t>Kwabena A. </a:t>
            </a:r>
            <a:r>
              <a:rPr lang="en-IN" dirty="0" err="1"/>
              <a:t>Boahen</a:t>
            </a:r>
            <a:endParaRPr lang="en-IN" dirty="0"/>
          </a:p>
          <a:p>
            <a:r>
              <a:rPr lang="en-US" dirty="0"/>
              <a:t>A 128×128 120dB 15us Latency Asynchronous Temporal Contrast Vision Sensor - </a:t>
            </a:r>
            <a:r>
              <a:rPr lang="de-DE" dirty="0"/>
              <a:t>Patrick Lichtsteiner, Christoph Posch, and Tobi Delbruck</a:t>
            </a:r>
            <a:endParaRPr lang="en-IN" dirty="0"/>
          </a:p>
          <a:p>
            <a:r>
              <a:rPr lang="en-IN" dirty="0"/>
              <a:t>Analog VLSI: Circuits and Principles By Shih-Chii Liu, Jörg Kramer, Giacomo </a:t>
            </a:r>
            <a:r>
              <a:rPr lang="en-IN" dirty="0" err="1"/>
              <a:t>Indiveri</a:t>
            </a:r>
            <a:r>
              <a:rPr lang="en-IN" dirty="0"/>
              <a:t>, Tobias Delbrück, and Rodney Douglas.</a:t>
            </a:r>
          </a:p>
          <a:p>
            <a:pPr marL="0" indent="0">
              <a:buNone/>
            </a:pPr>
            <a:endParaRPr lang="en-IN" dirty="0"/>
          </a:p>
          <a:p>
            <a:endParaRPr lang="en-IN" dirty="0"/>
          </a:p>
        </p:txBody>
      </p:sp>
    </p:spTree>
    <p:extLst>
      <p:ext uri="{BB962C8B-B14F-4D97-AF65-F5344CB8AC3E}">
        <p14:creationId xmlns:p14="http://schemas.microsoft.com/office/powerpoint/2010/main" val="3552981131"/>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{1044E8B4-FACC-42D6-91B3-A09DE9FA5AAA}TFc3084226-2d0c-440f-9f46-6b48c7a7f670e6ba4a85-fc4a2881d6b3</Template>
  <TotalTime>233</TotalTime>
  <Words>699</Words>
  <Application>Microsoft Office PowerPoint</Application>
  <PresentationFormat>Widescreen</PresentationFormat>
  <Paragraphs>76</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Franklin Gothic Book</vt:lpstr>
      <vt:lpstr>Wingdings</vt:lpstr>
      <vt:lpstr>Crop</vt:lpstr>
      <vt:lpstr>Large array readout using address event representation </vt:lpstr>
      <vt:lpstr>Neuromorphic Vision </vt:lpstr>
      <vt:lpstr>Address Event Representation (AER)</vt:lpstr>
      <vt:lpstr>Two-Dimensional AER </vt:lpstr>
      <vt:lpstr>Request generating circuit</vt:lpstr>
      <vt:lpstr>PowerPoint Presentation</vt:lpstr>
      <vt:lpstr>Steering circuit and Choosing circuit </vt:lpstr>
      <vt:lpstr>PowerPoint Presentation</vt:lpstr>
      <vt:lpstr>PowerPoint Presentation</vt:lpstr>
      <vt:lpstr>PowerPoint Presentation</vt:lpstr>
      <vt:lpstr>Arbiter structures for multiple inputs</vt:lpstr>
      <vt:lpstr>PowerPoint Presentation</vt:lpstr>
      <vt:lpstr>PowerPoint Presentation</vt:lpstr>
      <vt:lpstr>Signal generation </vt:lpstr>
      <vt:lpstr>Array readout (In progress) </vt:lpstr>
      <vt:lpstr>PowerPoint Presentation</vt:lpstr>
      <vt:lpstr>Current progress</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Kavin SM</dc:creator>
  <cp:lastModifiedBy>Kavin SM</cp:lastModifiedBy>
  <cp:revision>1</cp:revision>
  <dcterms:created xsi:type="dcterms:W3CDTF">2026-07-12T02:57:50Z</dcterms:created>
  <dcterms:modified xsi:type="dcterms:W3CDTF">2026-07-12T06:50:56Z</dcterms:modified>
</cp:coreProperties>
</file>